
<file path=[Content_Types].xml><?xml version="1.0" encoding="utf-8"?>
<Types xmlns="http://schemas.openxmlformats.org/package/2006/content-types"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70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1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918"/>
    <p:restoredTop sz="67710"/>
  </p:normalViewPr>
  <p:slideViewPr>
    <p:cSldViewPr snapToGrid="0" snapToObjects="1">
      <p:cViewPr varScale="1">
        <p:scale>
          <a:sx n="152" d="100"/>
          <a:sy n="152" d="100"/>
        </p:scale>
        <p:origin x="125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35465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1" i="0" dirty="0">
                <a:solidFill>
                  <a:srgbClr val="0D1214"/>
                </a:solidFill>
                <a:effectLst/>
                <a:highlight>
                  <a:srgbClr val="FFFFFF"/>
                </a:highlight>
                <a:latin typeface="Inter"/>
              </a:rPr>
              <a:t>Async/Await: </a:t>
            </a:r>
            <a:r>
              <a:rPr lang="en-GB" b="0" i="0" dirty="0">
                <a:solidFill>
                  <a:srgbClr val="0D1214"/>
                </a:solidFill>
                <a:effectLst/>
                <a:highlight>
                  <a:srgbClr val="FFFFFF"/>
                </a:highlight>
                <a:latin typeface="Inter"/>
              </a:rPr>
              <a:t>is a native feature in </a:t>
            </a:r>
            <a:r>
              <a:rPr lang="en-GB" b="1" i="0" dirty="0">
                <a:solidFill>
                  <a:srgbClr val="0D1214"/>
                </a:solidFill>
                <a:effectLst/>
                <a:highlight>
                  <a:srgbClr val="FFFFFF"/>
                </a:highlight>
                <a:latin typeface="Inter"/>
              </a:rPr>
              <a:t>Node.js</a:t>
            </a:r>
            <a:r>
              <a:rPr lang="en-GB" b="0" i="0" dirty="0">
                <a:solidFill>
                  <a:srgbClr val="0D1214"/>
                </a:solidFill>
                <a:effectLst/>
                <a:highlight>
                  <a:srgbClr val="FFFFFF"/>
                </a:highlight>
                <a:latin typeface="Inter"/>
              </a:rPr>
              <a:t> that simplifies the process of </a:t>
            </a:r>
            <a:r>
              <a:rPr lang="en-GB" b="1" i="0" dirty="0">
                <a:solidFill>
                  <a:srgbClr val="0D1214"/>
                </a:solidFill>
                <a:effectLst/>
                <a:highlight>
                  <a:srgbClr val="FFFFFF"/>
                </a:highlight>
                <a:latin typeface="Inter"/>
              </a:rPr>
              <a:t>managing tasks that take time</a:t>
            </a:r>
            <a:r>
              <a:rPr lang="en-GB" b="0" i="0" dirty="0">
                <a:solidFill>
                  <a:srgbClr val="0D1214"/>
                </a:solidFill>
                <a:effectLst/>
                <a:highlight>
                  <a:srgbClr val="FFFFFF"/>
                </a:highlight>
                <a:latin typeface="Inter"/>
              </a:rPr>
              <a:t>, such as waiting for a response from an API. It makes it easier to write asynchronous code that is more readable, sequential, and better at error handling.</a:t>
            </a:r>
            <a:endParaRPr lang="en-US" dirty="0"/>
          </a:p>
          <a:p>
            <a:endParaRPr lang="en-US" dirty="0"/>
          </a:p>
          <a:p>
            <a:r>
              <a:rPr lang="en-GB" b="1" i="0" dirty="0">
                <a:solidFill>
                  <a:srgbClr val="0D1214"/>
                </a:solidFill>
                <a:effectLst/>
                <a:highlight>
                  <a:srgbClr val="FFFFFF"/>
                </a:highlight>
                <a:latin typeface="Inter"/>
              </a:rPr>
              <a:t>Arrow functions: </a:t>
            </a:r>
            <a:r>
              <a:rPr lang="en-GB" b="0" i="0" dirty="0">
                <a:solidFill>
                  <a:srgbClr val="0D1214"/>
                </a:solidFill>
                <a:effectLst/>
                <a:highlight>
                  <a:srgbClr val="FFFFFF"/>
                </a:highlight>
                <a:latin typeface="Inter"/>
              </a:rPr>
              <a:t>in Node.js are a concise way to write JavaScript functions. They are introduced in the ES6 version and make the code more structured and readable.</a:t>
            </a:r>
          </a:p>
          <a:p>
            <a:pPr marL="628650" lvl="1" indent="-171450" algn="l">
              <a:buFont typeface="Arial" panose="020B0604020202020204" pitchFamily="34" charset="0"/>
              <a:buChar char="•"/>
            </a:pPr>
            <a:r>
              <a:rPr lang="en-GB" b="1" i="0" dirty="0">
                <a:solidFill>
                  <a:srgbClr val="0D1214"/>
                </a:solidFill>
                <a:effectLst/>
                <a:highlight>
                  <a:srgbClr val="FFFFFF"/>
                </a:highlight>
                <a:latin typeface="Inter"/>
              </a:rPr>
              <a:t>Arrow functions are anonymous</a:t>
            </a:r>
            <a:r>
              <a:rPr lang="en-GB" b="0" i="0" dirty="0">
                <a:solidFill>
                  <a:srgbClr val="0D1214"/>
                </a:solidFill>
                <a:effectLst/>
                <a:highlight>
                  <a:srgbClr val="FFFFFF"/>
                </a:highlight>
                <a:latin typeface="Inter"/>
              </a:rPr>
              <a:t>, meaning they don’t have a name, but they are often assigned to a variable or used as a function expression.</a:t>
            </a:r>
          </a:p>
          <a:p>
            <a:pPr marL="628650" lvl="1" indent="-171450" algn="l">
              <a:buFont typeface="Arial" panose="020B0604020202020204" pitchFamily="34" charset="0"/>
              <a:buChar char="•"/>
            </a:pPr>
            <a:r>
              <a:rPr lang="en-GB" b="1" i="0" dirty="0">
                <a:solidFill>
                  <a:srgbClr val="0D1214"/>
                </a:solidFill>
                <a:effectLst/>
                <a:highlight>
                  <a:srgbClr val="FFFFFF"/>
                </a:highlight>
                <a:latin typeface="Inter"/>
              </a:rPr>
              <a:t>Arrow functions have a lexical this binding</a:t>
            </a:r>
            <a:r>
              <a:rPr lang="en-GB" b="0" i="0" dirty="0">
                <a:solidFill>
                  <a:srgbClr val="0D1214"/>
                </a:solidFill>
                <a:effectLst/>
                <a:highlight>
                  <a:srgbClr val="FFFFFF"/>
                </a:highlight>
                <a:latin typeface="Inter"/>
              </a:rPr>
              <a:t>, which means they inherit the value of this from the </a:t>
            </a:r>
            <a:r>
              <a:rPr lang="en-GB" b="1" i="0" dirty="0">
                <a:solidFill>
                  <a:srgbClr val="0D1214"/>
                </a:solidFill>
                <a:effectLst/>
                <a:highlight>
                  <a:srgbClr val="FFFFFF"/>
                </a:highlight>
                <a:latin typeface="Inter"/>
              </a:rPr>
              <a:t>enclosing scope</a:t>
            </a:r>
            <a:r>
              <a:rPr lang="en-GB" b="0" i="0" dirty="0">
                <a:solidFill>
                  <a:srgbClr val="0D1214"/>
                </a:solidFill>
                <a:effectLst/>
                <a:highlight>
                  <a:srgbClr val="FFFFFF"/>
                </a:highlight>
                <a:latin typeface="Inter"/>
              </a:rPr>
              <a:t>. This feature can be advantageous when dealing with </a:t>
            </a:r>
            <a:r>
              <a:rPr lang="en-GB" b="1" i="0" dirty="0">
                <a:solidFill>
                  <a:srgbClr val="0D1214"/>
                </a:solidFill>
                <a:effectLst/>
                <a:highlight>
                  <a:srgbClr val="FFFFFF"/>
                </a:highlight>
                <a:latin typeface="Inter"/>
              </a:rPr>
              <a:t>event listeners or callback functions </a:t>
            </a:r>
            <a:r>
              <a:rPr lang="en-GB" b="0" i="0" dirty="0">
                <a:solidFill>
                  <a:srgbClr val="0D1214"/>
                </a:solidFill>
                <a:effectLst/>
                <a:highlight>
                  <a:srgbClr val="FFFFFF"/>
                </a:highlight>
                <a:latin typeface="Inter"/>
              </a:rPr>
              <a:t>where the value of this can be uncertain.</a:t>
            </a:r>
          </a:p>
          <a:p>
            <a:pPr marL="628650" lvl="1" indent="-171450" algn="l">
              <a:buFont typeface="Arial" panose="020B0604020202020204" pitchFamily="34" charset="0"/>
              <a:buChar char="•"/>
            </a:pPr>
            <a:r>
              <a:rPr lang="en-GB" b="0" i="0" dirty="0">
                <a:solidFill>
                  <a:srgbClr val="0D1214"/>
                </a:solidFill>
                <a:effectLst/>
                <a:highlight>
                  <a:srgbClr val="FFFFFF"/>
                </a:highlight>
                <a:latin typeface="Inter"/>
              </a:rPr>
              <a:t>Arrow functions can reduce the size of the code, making it more readable and maintainable.</a:t>
            </a:r>
          </a:p>
          <a:p>
            <a:endParaRPr lang="en-GB" b="0" i="0" dirty="0">
              <a:solidFill>
                <a:srgbClr val="0D1214"/>
              </a:solidFill>
              <a:effectLst/>
              <a:highlight>
                <a:srgbClr val="FFFFFF"/>
              </a:highlight>
              <a:latin typeface="Inter"/>
            </a:endParaRPr>
          </a:p>
          <a:p>
            <a:endParaRPr lang="en-GB" b="0" i="0" dirty="0">
              <a:solidFill>
                <a:srgbClr val="0D1214"/>
              </a:solidFill>
              <a:effectLst/>
              <a:highlight>
                <a:srgbClr val="FFFFFF"/>
              </a:highlight>
              <a:latin typeface="Inter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GB" b="0" i="0" dirty="0">
                <a:solidFill>
                  <a:srgbClr val="0D1214"/>
                </a:solidFill>
                <a:effectLst/>
                <a:highlight>
                  <a:srgbClr val="FFFFFF"/>
                </a:highlight>
                <a:latin typeface="Inter"/>
              </a:rPr>
              <a:t>It’s a popular front-end framework used for developing single-page, mobile, or server-rendered applications with reusable UI components. React is maintained by Meta (formerly Facebook) and a community of individual developers and companies.</a:t>
            </a:r>
          </a:p>
          <a:p>
            <a:pPr algn="l"/>
            <a:endParaRPr lang="en-GB" b="0" i="0" dirty="0">
              <a:solidFill>
                <a:srgbClr val="0D1214"/>
              </a:solidFill>
              <a:effectLst/>
              <a:highlight>
                <a:srgbClr val="FFFFFF"/>
              </a:highlight>
              <a:latin typeface="Inter"/>
            </a:endParaRPr>
          </a:p>
          <a:p>
            <a:pPr algn="l"/>
            <a:r>
              <a:rPr lang="en-GB" b="0" i="0" dirty="0" err="1">
                <a:solidFill>
                  <a:srgbClr val="0D1214"/>
                </a:solidFill>
                <a:effectLst/>
                <a:highlight>
                  <a:srgbClr val="FFFFFF"/>
                </a:highlight>
                <a:latin typeface="Inter"/>
              </a:rPr>
              <a:t>React’s</a:t>
            </a:r>
            <a:r>
              <a:rPr lang="en-GB" b="0" i="0" dirty="0">
                <a:solidFill>
                  <a:srgbClr val="0D1214"/>
                </a:solidFill>
                <a:effectLst/>
                <a:highlight>
                  <a:srgbClr val="FFFFFF"/>
                </a:highlight>
                <a:latin typeface="Inter"/>
              </a:rPr>
              <a:t> primary goal is to simplify the process of building interactive user interfaces by providing a declarative programming paradigm. Instead of directly manipulating the DOM, developers design views for each state of an application, and React updates and renders components when data changes.</a:t>
            </a:r>
          </a:p>
          <a:p>
            <a:endParaRPr lang="en-US" dirty="0"/>
          </a:p>
          <a:p>
            <a:r>
              <a:rPr lang="en-GB" b="0" i="0" dirty="0">
                <a:solidFill>
                  <a:srgbClr val="0D1214"/>
                </a:solidFill>
                <a:effectLst/>
                <a:highlight>
                  <a:srgbClr val="FFFFFF"/>
                </a:highlight>
                <a:latin typeface="Inter"/>
              </a:rPr>
              <a:t>React components are JavaScript functions that take input data and return React elements, which are then rendered to the DOM. </a:t>
            </a:r>
            <a:r>
              <a:rPr lang="en-GB" b="0" i="0">
                <a:solidFill>
                  <a:srgbClr val="0D1214"/>
                </a:solidFill>
                <a:effectLst/>
                <a:highlight>
                  <a:srgbClr val="FFFFFF"/>
                </a:highlight>
                <a:latin typeface="Inter"/>
              </a:rPr>
              <a:t>These components can be reused throughout an application, making it easier to manage complex UIs.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0" i="0" dirty="0">
                <a:solidFill>
                  <a:srgbClr val="0D1214"/>
                </a:solidFill>
                <a:effectLst/>
                <a:highlight>
                  <a:srgbClr val="FFFFFF"/>
                </a:highlight>
                <a:latin typeface="Inter"/>
              </a:rPr>
              <a:t>DOM manipulation in vanilla JavaScript involves working directly with the Document Object Model (DOM) to add, remove, or modify elements, attributes, and content. </a:t>
            </a:r>
          </a:p>
          <a:p>
            <a:endParaRPr lang="en-GB" b="0" i="0" dirty="0">
              <a:solidFill>
                <a:srgbClr val="0D1214"/>
              </a:solidFill>
              <a:effectLst/>
              <a:highlight>
                <a:srgbClr val="FFFFFF"/>
              </a:highlight>
              <a:latin typeface="Inter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1" i="0" dirty="0">
                <a:solidFill>
                  <a:srgbClr val="0D1214"/>
                </a:solidFill>
                <a:effectLst/>
                <a:highlight>
                  <a:srgbClr val="FFFFFF"/>
                </a:highlight>
                <a:latin typeface="Inter"/>
              </a:rPr>
              <a:t>Getting Elements</a:t>
            </a:r>
            <a:endParaRPr lang="en-GB" b="0" i="0" dirty="0">
              <a:solidFill>
                <a:srgbClr val="0D1214"/>
              </a:solidFill>
              <a:effectLst/>
              <a:highlight>
                <a:srgbClr val="FFFFFF"/>
              </a:highlight>
              <a:latin typeface="Inter"/>
            </a:endParaRPr>
          </a:p>
          <a:p>
            <a:r>
              <a:rPr lang="en-GB" b="0" i="0" dirty="0" err="1">
                <a:solidFill>
                  <a:srgbClr val="0D1214"/>
                </a:solidFill>
                <a:effectLst/>
                <a:highlight>
                  <a:srgbClr val="FFFFFF"/>
                </a:highlight>
                <a:latin typeface="Inter"/>
              </a:rPr>
              <a:t>document.getElementById</a:t>
            </a:r>
            <a:r>
              <a:rPr lang="en-GB" b="0" i="0" dirty="0">
                <a:solidFill>
                  <a:srgbClr val="0D1214"/>
                </a:solidFill>
                <a:effectLst/>
                <a:highlight>
                  <a:srgbClr val="FFFFFF"/>
                </a:highlight>
                <a:latin typeface="Inter"/>
              </a:rPr>
              <a:t>: Returns an element by its ID.</a:t>
            </a:r>
          </a:p>
          <a:p>
            <a:r>
              <a:rPr lang="en-GB" b="0" i="0" dirty="0" err="1">
                <a:solidFill>
                  <a:srgbClr val="0D1214"/>
                </a:solidFill>
                <a:effectLst/>
                <a:highlight>
                  <a:srgbClr val="FFFFFF"/>
                </a:highlight>
                <a:latin typeface="Inter"/>
              </a:rPr>
              <a:t>document.querySelector</a:t>
            </a:r>
            <a:r>
              <a:rPr lang="en-GB" b="0" i="0" dirty="0">
                <a:solidFill>
                  <a:srgbClr val="0D1214"/>
                </a:solidFill>
                <a:effectLst/>
                <a:highlight>
                  <a:srgbClr val="FFFFFF"/>
                </a:highlight>
                <a:latin typeface="Inter"/>
              </a:rPr>
              <a:t>: Returns the first element that matches a selector.</a:t>
            </a:r>
          </a:p>
          <a:p>
            <a:r>
              <a:rPr lang="en-GB" b="0" i="0" dirty="0" err="1">
                <a:solidFill>
                  <a:srgbClr val="0D1214"/>
                </a:solidFill>
                <a:effectLst/>
                <a:highlight>
                  <a:srgbClr val="FFFFFF"/>
                </a:highlight>
                <a:latin typeface="Inter"/>
              </a:rPr>
              <a:t>document.querySelectorAll</a:t>
            </a:r>
            <a:r>
              <a:rPr lang="en-GB" b="0" i="0" dirty="0">
                <a:solidFill>
                  <a:srgbClr val="0D1214"/>
                </a:solidFill>
                <a:effectLst/>
                <a:highlight>
                  <a:srgbClr val="FFFFFF"/>
                </a:highlight>
                <a:latin typeface="Inter"/>
              </a:rPr>
              <a:t>: Returns a list of elements that match a selector.</a:t>
            </a:r>
          </a:p>
          <a:p>
            <a:endParaRPr lang="en-GB" b="0" i="0" dirty="0">
              <a:solidFill>
                <a:srgbClr val="0D1214"/>
              </a:solidFill>
              <a:effectLst/>
              <a:highlight>
                <a:srgbClr val="FFFFFF"/>
              </a:highlight>
              <a:latin typeface="Inter"/>
            </a:endParaRPr>
          </a:p>
          <a:p>
            <a:pPr algn="l"/>
            <a:r>
              <a:rPr lang="en-GB" b="1" i="0" dirty="0">
                <a:solidFill>
                  <a:srgbClr val="0D1214"/>
                </a:solidFill>
                <a:effectLst/>
                <a:highlight>
                  <a:srgbClr val="FFFFFF"/>
                </a:highlight>
                <a:latin typeface="Inter"/>
              </a:rPr>
              <a:t>Setting Attributes</a:t>
            </a:r>
          </a:p>
          <a:p>
            <a:pPr algn="l"/>
            <a:r>
              <a:rPr lang="en-GB" b="0" i="0" dirty="0" err="1">
                <a:solidFill>
                  <a:srgbClr val="0D1214"/>
                </a:solidFill>
                <a:effectLst/>
                <a:highlight>
                  <a:srgbClr val="FFFFFF"/>
                </a:highlight>
                <a:latin typeface="Inter"/>
              </a:rPr>
              <a:t>element.setAttribute</a:t>
            </a:r>
            <a:r>
              <a:rPr lang="en-GB" b="0" i="0" dirty="0">
                <a:solidFill>
                  <a:srgbClr val="0D1214"/>
                </a:solidFill>
                <a:effectLst/>
                <a:highlight>
                  <a:srgbClr val="FFFFFF"/>
                </a:highlight>
                <a:latin typeface="Inter"/>
              </a:rPr>
              <a:t>: Sets an attribute on an element.</a:t>
            </a:r>
          </a:p>
          <a:p>
            <a:pPr algn="l"/>
            <a:r>
              <a:rPr lang="en-GB" b="0" i="0" dirty="0" err="1">
                <a:solidFill>
                  <a:srgbClr val="0D1214"/>
                </a:solidFill>
                <a:effectLst/>
                <a:highlight>
                  <a:srgbClr val="FFFFFF"/>
                </a:highlight>
                <a:latin typeface="Inter"/>
              </a:rPr>
              <a:t>element.getAttribute</a:t>
            </a:r>
            <a:r>
              <a:rPr lang="en-GB" b="0" i="0" dirty="0">
                <a:solidFill>
                  <a:srgbClr val="0D1214"/>
                </a:solidFill>
                <a:effectLst/>
                <a:highlight>
                  <a:srgbClr val="FFFFFF"/>
                </a:highlight>
                <a:latin typeface="Inter"/>
              </a:rPr>
              <a:t>: Gets an attribute from an element.</a:t>
            </a:r>
          </a:p>
          <a:p>
            <a:pPr algn="l"/>
            <a:r>
              <a:rPr lang="en-GB" b="0" i="0" dirty="0" err="1">
                <a:solidFill>
                  <a:srgbClr val="0D1214"/>
                </a:solidFill>
                <a:effectLst/>
                <a:highlight>
                  <a:srgbClr val="FFFFFF"/>
                </a:highlight>
                <a:latin typeface="Inter"/>
              </a:rPr>
              <a:t>element.removeAttribute</a:t>
            </a:r>
            <a:r>
              <a:rPr lang="en-GB" b="0" i="0" dirty="0">
                <a:solidFill>
                  <a:srgbClr val="0D1214"/>
                </a:solidFill>
                <a:effectLst/>
                <a:highlight>
                  <a:srgbClr val="FFFFFF"/>
                </a:highlight>
                <a:latin typeface="Inter"/>
              </a:rPr>
              <a:t>: Removes an attribute from an element.</a:t>
            </a:r>
          </a:p>
          <a:p>
            <a:pPr algn="l"/>
            <a:endParaRPr lang="en-GB" b="0" i="0" dirty="0">
              <a:solidFill>
                <a:srgbClr val="0D1214"/>
              </a:solidFill>
              <a:effectLst/>
              <a:highlight>
                <a:srgbClr val="FFFFFF"/>
              </a:highlight>
              <a:latin typeface="Inter"/>
            </a:endParaRPr>
          </a:p>
          <a:p>
            <a:pPr algn="l"/>
            <a:r>
              <a:rPr lang="en-GB" b="1" i="0" dirty="0">
                <a:solidFill>
                  <a:srgbClr val="0D1214"/>
                </a:solidFill>
                <a:effectLst/>
                <a:highlight>
                  <a:srgbClr val="FFFFFF"/>
                </a:highlight>
                <a:latin typeface="Inter"/>
              </a:rPr>
              <a:t>Setting Text Content</a:t>
            </a:r>
          </a:p>
          <a:p>
            <a:pPr algn="l"/>
            <a:r>
              <a:rPr lang="en-GB" b="0" i="0" dirty="0" err="1">
                <a:solidFill>
                  <a:srgbClr val="0D1214"/>
                </a:solidFill>
                <a:effectLst/>
                <a:highlight>
                  <a:srgbClr val="FFFFFF"/>
                </a:highlight>
                <a:latin typeface="Inter"/>
              </a:rPr>
              <a:t>element.textContent</a:t>
            </a:r>
            <a:r>
              <a:rPr lang="en-GB" b="0" i="0" dirty="0">
                <a:solidFill>
                  <a:srgbClr val="0D1214"/>
                </a:solidFill>
                <a:effectLst/>
                <a:highlight>
                  <a:srgbClr val="FFFFFF"/>
                </a:highlight>
                <a:latin typeface="Inter"/>
              </a:rPr>
              <a:t>: Sets the text content of an element.</a:t>
            </a:r>
          </a:p>
          <a:p>
            <a:pPr algn="l"/>
            <a:r>
              <a:rPr lang="en-GB" b="0" i="0" dirty="0" err="1">
                <a:solidFill>
                  <a:srgbClr val="0D1214"/>
                </a:solidFill>
                <a:effectLst/>
                <a:highlight>
                  <a:srgbClr val="FFFFFF"/>
                </a:highlight>
                <a:latin typeface="Inter"/>
              </a:rPr>
              <a:t>element.innerText</a:t>
            </a:r>
            <a:r>
              <a:rPr lang="en-GB" b="0" i="0" dirty="0">
                <a:solidFill>
                  <a:srgbClr val="0D1214"/>
                </a:solidFill>
                <a:effectLst/>
                <a:highlight>
                  <a:srgbClr val="FFFFFF"/>
                </a:highlight>
                <a:latin typeface="Inter"/>
              </a:rPr>
              <a:t>: Sets the inner text content of an element.</a:t>
            </a:r>
          </a:p>
          <a:p>
            <a:pPr algn="l"/>
            <a:endParaRPr lang="en-GB" b="1" i="0" dirty="0">
              <a:solidFill>
                <a:srgbClr val="0D1214"/>
              </a:solidFill>
              <a:effectLst/>
              <a:highlight>
                <a:srgbClr val="FFFFFF"/>
              </a:highlight>
              <a:latin typeface="Inter"/>
            </a:endParaRPr>
          </a:p>
          <a:p>
            <a:pPr algn="l"/>
            <a:r>
              <a:rPr lang="en-GB" b="1" i="0" dirty="0">
                <a:solidFill>
                  <a:srgbClr val="0D1214"/>
                </a:solidFill>
                <a:effectLst/>
                <a:highlight>
                  <a:srgbClr val="FFFFFF"/>
                </a:highlight>
                <a:latin typeface="Inter"/>
              </a:rPr>
              <a:t>Adding Elements</a:t>
            </a:r>
          </a:p>
          <a:p>
            <a:pPr algn="l"/>
            <a:r>
              <a:rPr lang="en-GB" b="0" i="0" dirty="0" err="1">
                <a:solidFill>
                  <a:srgbClr val="0D1214"/>
                </a:solidFill>
                <a:effectLst/>
                <a:highlight>
                  <a:srgbClr val="FFFFFF"/>
                </a:highlight>
                <a:latin typeface="Inter"/>
              </a:rPr>
              <a:t>document.createElement</a:t>
            </a:r>
            <a:r>
              <a:rPr lang="en-GB" b="0" i="0" dirty="0">
                <a:solidFill>
                  <a:srgbClr val="0D1214"/>
                </a:solidFill>
                <a:effectLst/>
                <a:highlight>
                  <a:srgbClr val="FFFFFF"/>
                </a:highlight>
                <a:latin typeface="Inter"/>
              </a:rPr>
              <a:t>: Creates a new element.</a:t>
            </a:r>
          </a:p>
          <a:p>
            <a:pPr algn="l"/>
            <a:r>
              <a:rPr lang="en-GB" b="0" i="0" dirty="0" err="1">
                <a:solidFill>
                  <a:srgbClr val="0D1214"/>
                </a:solidFill>
                <a:effectLst/>
                <a:highlight>
                  <a:srgbClr val="FFFFFF"/>
                </a:highlight>
                <a:latin typeface="Inter"/>
              </a:rPr>
              <a:t>document.appendChild</a:t>
            </a:r>
            <a:r>
              <a:rPr lang="en-GB" b="0" i="0" dirty="0">
                <a:solidFill>
                  <a:srgbClr val="0D1214"/>
                </a:solidFill>
                <a:effectLst/>
                <a:highlight>
                  <a:srgbClr val="FFFFFF"/>
                </a:highlight>
                <a:latin typeface="Inter"/>
              </a:rPr>
              <a:t>: Adds an element to the end of a parent element.</a:t>
            </a:r>
          </a:p>
          <a:p>
            <a:pPr algn="l"/>
            <a:r>
              <a:rPr lang="en-GB" b="0" i="0" dirty="0" err="1">
                <a:solidFill>
                  <a:srgbClr val="0D1214"/>
                </a:solidFill>
                <a:effectLst/>
                <a:highlight>
                  <a:srgbClr val="FFFFFF"/>
                </a:highlight>
                <a:latin typeface="Inter"/>
              </a:rPr>
              <a:t>element.insertAdjacentHTML</a:t>
            </a:r>
            <a:r>
              <a:rPr lang="en-GB" b="0" i="0" dirty="0">
                <a:solidFill>
                  <a:srgbClr val="0D1214"/>
                </a:solidFill>
                <a:effectLst/>
                <a:highlight>
                  <a:srgbClr val="FFFFFF"/>
                </a:highlight>
                <a:latin typeface="Inter"/>
              </a:rPr>
              <a:t>: Inserts HTML content at a specified position.</a:t>
            </a:r>
          </a:p>
          <a:p>
            <a:pPr algn="l"/>
            <a:endParaRPr lang="en-GB" b="0" i="0" dirty="0">
              <a:solidFill>
                <a:srgbClr val="0D1214"/>
              </a:solidFill>
              <a:effectLst/>
              <a:highlight>
                <a:srgbClr val="FFFFFF"/>
              </a:highlight>
              <a:latin typeface="Inter"/>
            </a:endParaRPr>
          </a:p>
          <a:p>
            <a:pPr algn="l"/>
            <a:r>
              <a:rPr lang="en-GB" b="1" i="0" dirty="0">
                <a:solidFill>
                  <a:srgbClr val="0D1214"/>
                </a:solidFill>
                <a:effectLst/>
                <a:highlight>
                  <a:srgbClr val="FFFFFF"/>
                </a:highlight>
                <a:latin typeface="Inter"/>
              </a:rPr>
              <a:t>Removing Elements</a:t>
            </a:r>
          </a:p>
          <a:p>
            <a:pPr algn="l"/>
            <a:r>
              <a:rPr lang="en-GB" b="0" i="0" dirty="0" err="1">
                <a:solidFill>
                  <a:srgbClr val="0D1214"/>
                </a:solidFill>
                <a:effectLst/>
                <a:highlight>
                  <a:srgbClr val="FFFFFF"/>
                </a:highlight>
                <a:latin typeface="Inter"/>
              </a:rPr>
              <a:t>element.remove</a:t>
            </a:r>
            <a:r>
              <a:rPr lang="en-GB" b="0" i="0" dirty="0">
                <a:solidFill>
                  <a:srgbClr val="0D1214"/>
                </a:solidFill>
                <a:effectLst/>
                <a:highlight>
                  <a:srgbClr val="FFFFFF"/>
                </a:highlight>
                <a:latin typeface="Inter"/>
              </a:rPr>
              <a:t>: Removes an element from the DOM.</a:t>
            </a:r>
          </a:p>
          <a:p>
            <a:pPr algn="l"/>
            <a:r>
              <a:rPr lang="en-GB" b="0" i="0" dirty="0" err="1">
                <a:solidFill>
                  <a:srgbClr val="0D1214"/>
                </a:solidFill>
                <a:effectLst/>
                <a:highlight>
                  <a:srgbClr val="FFFFFF"/>
                </a:highlight>
                <a:latin typeface="Inter"/>
              </a:rPr>
              <a:t>element.parentNode.removeChild</a:t>
            </a:r>
            <a:r>
              <a:rPr lang="en-GB" b="0" i="0" dirty="0">
                <a:solidFill>
                  <a:srgbClr val="0D1214"/>
                </a:solidFill>
                <a:effectLst/>
                <a:highlight>
                  <a:srgbClr val="FFFFFF"/>
                </a:highlight>
                <a:latin typeface="Inter"/>
              </a:rPr>
              <a:t>: Removes an element from its parent.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/tmp/beautiful_ai_exports/47d97ecf-7aeb-4d1b-bea2-989a2f317c38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/tmp/beautiful_ai_exports/343afb02-0206-4162-a673-14290ccad0f0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/tmp/beautiful_ai_exports/c9a96d12-9eaf-4b41-9d13-4569177a4faa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/tmp/beautiful_ai_exports/fd544fbe-69d6-4f97-8c3c-cc54b367df66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/tmp/beautiful_ai_exports/6a5a28d5-cf20-4265-b879-4c150ac371d2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/tmp/beautiful_ai_exports/0cb5e838-f7c7-46a0-8594-6dc26e64a158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/tmp/beautiful_ai_exports/afabf3fb-ec07-4d1c-a9ea-074bdf177dec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/tmp/beautiful_ai_exports/a84b4e9a-98ae-4458-8dce-347038750784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/tmp/beautiful_ai_exports/aac20454-51d4-43da-95ae-23a445adbda8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/tmp/beautiful_ai_exports/7e9345df-2c52-4497-994c-80a765739441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38456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/tmp/beautiful_ai_exports/74bba345-23f8-4c0d-99f2-d3e09120676e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/tmp/beautiful_ai_exports/a49cdf20-5692-4d81-be09-45756b08b004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/tmp/beautiful_ai_exports/00eb7746-54d5-4896-95c4-b22b508a2a47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/tmp/beautiful_ai_exports/45f654c7-9697-4075-a7c7-5f537b1b95e0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/tmp/beautiful_ai_exports/aee40ad4-5f68-473c-9b78-37806080d306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/tmp/beautiful_ai_exports/522b908d-3339-4140-b769-b769b1bbf03d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Arial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510</Words>
  <Application>Microsoft Macintosh PowerPoint</Application>
  <PresentationFormat>On-screen Show (16:9)</PresentationFormat>
  <Paragraphs>51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Inter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Haroon, Sihan</cp:lastModifiedBy>
  <cp:revision>4</cp:revision>
  <dcterms:created xsi:type="dcterms:W3CDTF">2024-06-24T16:25:16Z</dcterms:created>
  <dcterms:modified xsi:type="dcterms:W3CDTF">2024-06-25T08:28:45Z</dcterms:modified>
</cp:coreProperties>
</file>